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0" r:id="rId3"/>
    <p:sldId id="262" r:id="rId4"/>
    <p:sldId id="261" r:id="rId5"/>
    <p:sldId id="259" r:id="rId6"/>
    <p:sldId id="258" r:id="rId7"/>
    <p:sldId id="257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5E5E5"/>
    <a:srgbClr val="144E7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01FA7A-5CEE-4B2F-91BA-9096C9ECE3C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2C5726A-973F-4198-B506-D8A91E03421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43D76BA-3D70-4F58-9CC2-33AE57E873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CDFFD37-02B0-4AB6-B0A7-2496C9599C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CB96D0-7374-439A-899C-E8F6C2A1C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0045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1E2E5-2372-4808-8D06-DB543053A7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4F2564-96C6-423B-B2EA-7CF418BA0B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A2D8DA-D03A-4F3E-B701-C55D5600CF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2C1868-F771-4F0B-8764-465DAE07C0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B064D6-0477-467F-BCB5-D457EFDBCC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4600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298E2C4-0D65-42B7-B924-2D5EC407448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26A440-4AB7-421B-B6F6-766D2A73CA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961B25-CA31-4156-948A-2AE7149B42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8EB9E7D-8275-48B7-AC59-F0F99FCF55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50054-C733-4BEE-A45C-C16CBB8C92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671797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902314-F92E-4AB9-A91B-ACBE4BFD8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9B9064-F767-408C-B821-3988B86EF48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8E6CD0B-7CA9-451A-9C00-BBFCC783846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44CF9ED-8D15-47D2-BBBD-FBB9A59A8F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537B451-C0B6-4038-8B65-5E2F987D6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A4F9C4F-1869-4B50-9243-2F02668506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30492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CEE6E76-DA03-4C4A-8486-C71BAE132A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9DBB8-75F9-4436-BD3B-741E8A9D60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2FEF21-6100-4BE0-8FE9-0A08B551C5E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EC11BFB-4AAC-4CA6-A684-514A8650075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E994C0A-98E4-4AA8-BEE9-4BB3B53F807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28FA00E-6AAD-40BA-9DA4-E5ACD6DF3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0DC5BFF-29F7-4699-8616-4AE07E1C22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0924781-BB66-45D4-BA75-68782FE65E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410095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431408-4CE6-4E9F-A26D-F33459353C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2AC31D-7BEF-4745-9545-EC455095F9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857725C-53B2-4307-B645-74EAB2984A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2328DD-F2A9-447E-8282-BB7E2FE66F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66632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CE124A-0F42-42A1-84B6-0D71BFCD8F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BBC23AB-ED67-4454-B10F-03547063B3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85B7185-F3D5-4DE2-B3B8-9E29115599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184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211DA5-6D03-4EE3-AB1C-1FA5896DEF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ADF43B-CAD3-41A5-A374-6D8759C7F7D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14254CF-91BC-464A-AC5A-A127906D5E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CE863DB-8677-466E-8179-E8AE32380A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B361597-5246-40FC-915D-A8B7FB4B0A5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BE44D52-06F3-461B-92B6-B1BE7885B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71196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190843-2D61-4BD1-901F-7D02FCDA8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C518CF-7324-4F50-97D9-AF401A85620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AC0819-22F3-4B51-83BB-ABE8B31C35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29BD6E-FE79-48FF-97F4-AD841AB7FC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C62711-88EF-477A-A091-FB248DAA19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D4A309-A768-4DD2-AB62-D993722BCF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1418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7FE2F3-CC0B-4356-83D2-B9918704E8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F5EE635-A4E4-4B67-B88E-BC92022047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B72918C-AE21-4011-BBCC-E940A96495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42EF024-B192-4952-932A-145563AA7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F24AA4-E8AA-4107-9AA8-C67EB3EBD2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687368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DBF5EA-8E36-450B-8FFF-099A61B915F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5CEBA22-5008-45D9-880C-5290F51C9F5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9725D3-14D4-4BCD-8229-F474BBF0CF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0C1F51-3D49-4C4A-BA84-39ABD7D93F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4137E55-E87C-4B5B-9416-977A72567D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6832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C8441A3-F67A-4C34-B11D-DD4C6D2A77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C045CB-5A92-4AED-9FBB-19353BA04B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E0BB348-1B6E-4853-95B2-A568D91269F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3E0C14F-00BE-499B-B59A-6D165376A29D}" type="datetimeFigureOut">
              <a:rPr lang="en-US" smtClean="0"/>
              <a:t>2/7/2026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167474-82AD-47F7-AC65-B6F8EA5DBC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E875A-2A2E-4CA5-A1E2-94D98FB10C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D2666A-8D30-4FCB-9B28-838EA9CFA7B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1052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sv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13" Type="http://schemas.openxmlformats.org/officeDocument/2006/relationships/image" Target="../media/image2.svg"/><Relationship Id="rId18" Type="http://schemas.openxmlformats.org/officeDocument/2006/relationships/image" Target="../media/image7.png"/><Relationship Id="rId3" Type="http://schemas.openxmlformats.org/officeDocument/2006/relationships/image" Target="../media/image10.svg"/><Relationship Id="rId7" Type="http://schemas.openxmlformats.org/officeDocument/2006/relationships/image" Target="../media/image14.svg"/><Relationship Id="rId12" Type="http://schemas.openxmlformats.org/officeDocument/2006/relationships/image" Target="../media/image1.png"/><Relationship Id="rId17" Type="http://schemas.openxmlformats.org/officeDocument/2006/relationships/image" Target="../media/image6.svg"/><Relationship Id="rId2" Type="http://schemas.openxmlformats.org/officeDocument/2006/relationships/image" Target="../media/image9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.png"/><Relationship Id="rId11" Type="http://schemas.openxmlformats.org/officeDocument/2006/relationships/image" Target="../media/image18.svg"/><Relationship Id="rId5" Type="http://schemas.openxmlformats.org/officeDocument/2006/relationships/image" Target="../media/image12.svg"/><Relationship Id="rId15" Type="http://schemas.openxmlformats.org/officeDocument/2006/relationships/image" Target="../media/image4.svg"/><Relationship Id="rId10" Type="http://schemas.openxmlformats.org/officeDocument/2006/relationships/image" Target="../media/image17.png"/><Relationship Id="rId19" Type="http://schemas.openxmlformats.org/officeDocument/2006/relationships/image" Target="../media/image8.svg"/><Relationship Id="rId4" Type="http://schemas.openxmlformats.org/officeDocument/2006/relationships/image" Target="../media/image11.png"/><Relationship Id="rId9" Type="http://schemas.openxmlformats.org/officeDocument/2006/relationships/image" Target="../media/image16.svg"/><Relationship Id="rId1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30.svg"/><Relationship Id="rId18" Type="http://schemas.openxmlformats.org/officeDocument/2006/relationships/image" Target="../media/image35.png"/><Relationship Id="rId26" Type="http://schemas.openxmlformats.org/officeDocument/2006/relationships/image" Target="../media/image43.png"/><Relationship Id="rId3" Type="http://schemas.openxmlformats.org/officeDocument/2006/relationships/image" Target="../media/image20.svg"/><Relationship Id="rId21" Type="http://schemas.openxmlformats.org/officeDocument/2006/relationships/image" Target="../media/image38.svg"/><Relationship Id="rId7" Type="http://schemas.openxmlformats.org/officeDocument/2006/relationships/image" Target="../media/image24.svg"/><Relationship Id="rId12" Type="http://schemas.openxmlformats.org/officeDocument/2006/relationships/image" Target="../media/image29.png"/><Relationship Id="rId17" Type="http://schemas.openxmlformats.org/officeDocument/2006/relationships/image" Target="../media/image34.svg"/><Relationship Id="rId25" Type="http://schemas.openxmlformats.org/officeDocument/2006/relationships/image" Target="../media/image42.svg"/><Relationship Id="rId33" Type="http://schemas.openxmlformats.org/officeDocument/2006/relationships/image" Target="../media/image10.svg"/><Relationship Id="rId2" Type="http://schemas.openxmlformats.org/officeDocument/2006/relationships/image" Target="../media/image19.png"/><Relationship Id="rId16" Type="http://schemas.openxmlformats.org/officeDocument/2006/relationships/image" Target="../media/image33.png"/><Relationship Id="rId20" Type="http://schemas.openxmlformats.org/officeDocument/2006/relationships/image" Target="../media/image37.png"/><Relationship Id="rId29" Type="http://schemas.openxmlformats.org/officeDocument/2006/relationships/image" Target="../media/image46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3.png"/><Relationship Id="rId11" Type="http://schemas.openxmlformats.org/officeDocument/2006/relationships/image" Target="../media/image28.svg"/><Relationship Id="rId24" Type="http://schemas.openxmlformats.org/officeDocument/2006/relationships/image" Target="../media/image41.png"/><Relationship Id="rId32" Type="http://schemas.openxmlformats.org/officeDocument/2006/relationships/image" Target="../media/image9.png"/><Relationship Id="rId5" Type="http://schemas.openxmlformats.org/officeDocument/2006/relationships/image" Target="../media/image22.svg"/><Relationship Id="rId15" Type="http://schemas.openxmlformats.org/officeDocument/2006/relationships/image" Target="../media/image32.svg"/><Relationship Id="rId23" Type="http://schemas.openxmlformats.org/officeDocument/2006/relationships/image" Target="../media/image40.svg"/><Relationship Id="rId28" Type="http://schemas.openxmlformats.org/officeDocument/2006/relationships/image" Target="../media/image45.png"/><Relationship Id="rId10" Type="http://schemas.openxmlformats.org/officeDocument/2006/relationships/image" Target="../media/image27.png"/><Relationship Id="rId19" Type="http://schemas.openxmlformats.org/officeDocument/2006/relationships/image" Target="../media/image36.svg"/><Relationship Id="rId31" Type="http://schemas.openxmlformats.org/officeDocument/2006/relationships/image" Target="../media/image48.svg"/><Relationship Id="rId4" Type="http://schemas.openxmlformats.org/officeDocument/2006/relationships/image" Target="../media/image21.png"/><Relationship Id="rId9" Type="http://schemas.openxmlformats.org/officeDocument/2006/relationships/image" Target="../media/image26.svg"/><Relationship Id="rId14" Type="http://schemas.openxmlformats.org/officeDocument/2006/relationships/image" Target="../media/image31.png"/><Relationship Id="rId22" Type="http://schemas.openxmlformats.org/officeDocument/2006/relationships/image" Target="../media/image39.png"/><Relationship Id="rId27" Type="http://schemas.openxmlformats.org/officeDocument/2006/relationships/image" Target="../media/image44.svg"/><Relationship Id="rId30" Type="http://schemas.openxmlformats.org/officeDocument/2006/relationships/image" Target="../media/image47.png"/><Relationship Id="rId8" Type="http://schemas.openxmlformats.org/officeDocument/2006/relationships/image" Target="../media/image2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 Background">
            <a:extLst>
              <a:ext uri="{FF2B5EF4-FFF2-40B4-BE49-F238E27FC236}">
                <a16:creationId xmlns:a16="http://schemas.microsoft.com/office/drawing/2014/main" id="{E095845E-6046-4C15-954A-7AB89635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op Background">
            <a:extLst>
              <a:ext uri="{FF2B5EF4-FFF2-40B4-BE49-F238E27FC236}">
                <a16:creationId xmlns:a16="http://schemas.microsoft.com/office/drawing/2014/main" id="{89B7693C-54E6-4DCB-8025-D295DFB584D4}"/>
              </a:ext>
            </a:extLst>
          </p:cNvPr>
          <p:cNvSpPr/>
          <p:nvPr/>
        </p:nvSpPr>
        <p:spPr>
          <a:xfrm>
            <a:off x="1" y="0"/>
            <a:ext cx="1317812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>
            <a:outerShdw blurRad="76200" dist="76200" sx="102000" sy="102000" algn="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5E4EB-B644-4EC4-841B-F83A9D3961FA}"/>
              </a:ext>
            </a:extLst>
          </p:cNvPr>
          <p:cNvSpPr/>
          <p:nvPr/>
        </p:nvSpPr>
        <p:spPr>
          <a:xfrm>
            <a:off x="1489494" y="484094"/>
            <a:ext cx="10702507" cy="1049432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755C6A8-F33F-497E-8810-2F0D2D88D3CE}"/>
              </a:ext>
            </a:extLst>
          </p:cNvPr>
          <p:cNvGrpSpPr/>
          <p:nvPr/>
        </p:nvGrpSpPr>
        <p:grpSpPr>
          <a:xfrm>
            <a:off x="1489494" y="1630016"/>
            <a:ext cx="2918792" cy="5227983"/>
            <a:chOff x="1579144" y="1630016"/>
            <a:chExt cx="2918792" cy="522798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5A6CB28-B287-4178-B59A-021D654E960E}"/>
                </a:ext>
              </a:extLst>
            </p:cNvPr>
            <p:cNvSpPr/>
            <p:nvPr/>
          </p:nvSpPr>
          <p:spPr>
            <a:xfrm>
              <a:off x="1579144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Dollar with solid fill">
              <a:extLst>
                <a:ext uri="{FF2B5EF4-FFF2-40B4-BE49-F238E27FC236}">
                  <a16:creationId xmlns:a16="http://schemas.microsoft.com/office/drawing/2014/main" id="{5AE88AC4-FC33-4297-89C3-FCACD957F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0692" y="1728344"/>
              <a:ext cx="365760" cy="36576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2EA1CB-9538-40EF-BE31-E24A343B7C8B}"/>
                </a:ext>
              </a:extLst>
            </p:cNvPr>
            <p:cNvSpPr txBox="1"/>
            <p:nvPr/>
          </p:nvSpPr>
          <p:spPr>
            <a:xfrm>
              <a:off x="1711419" y="1716644"/>
              <a:ext cx="1147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Revenue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FE8CBB-2644-4327-9C59-101B18B493C2}"/>
              </a:ext>
            </a:extLst>
          </p:cNvPr>
          <p:cNvGrpSpPr/>
          <p:nvPr/>
        </p:nvGrpSpPr>
        <p:grpSpPr>
          <a:xfrm>
            <a:off x="4582354" y="1630016"/>
            <a:ext cx="2918792" cy="5227983"/>
            <a:chOff x="4770619" y="1630016"/>
            <a:chExt cx="2918792" cy="522798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3AF7B01-7097-43B9-B01B-7EA7830A5020}"/>
                </a:ext>
              </a:extLst>
            </p:cNvPr>
            <p:cNvSpPr/>
            <p:nvPr/>
          </p:nvSpPr>
          <p:spPr>
            <a:xfrm>
              <a:off x="4770619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 descr="Money with solid fill">
              <a:extLst>
                <a:ext uri="{FF2B5EF4-FFF2-40B4-BE49-F238E27FC236}">
                  <a16:creationId xmlns:a16="http://schemas.microsoft.com/office/drawing/2014/main" id="{61E5678D-61BF-42A4-8771-0FEF626A2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95052" y="1719379"/>
              <a:ext cx="365760" cy="36576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F2AD758-ACEA-4FFE-8824-81D30051BA8D}"/>
                </a:ext>
              </a:extLst>
            </p:cNvPr>
            <p:cNvSpPr txBox="1"/>
            <p:nvPr/>
          </p:nvSpPr>
          <p:spPr>
            <a:xfrm>
              <a:off x="4886062" y="1715606"/>
              <a:ext cx="15685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Gross Profit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F053565-3E56-4099-A16C-F09300C60A61}"/>
              </a:ext>
            </a:extLst>
          </p:cNvPr>
          <p:cNvGrpSpPr/>
          <p:nvPr/>
        </p:nvGrpSpPr>
        <p:grpSpPr>
          <a:xfrm>
            <a:off x="7666251" y="1630016"/>
            <a:ext cx="2918792" cy="5227983"/>
            <a:chOff x="7962094" y="1630016"/>
            <a:chExt cx="2918792" cy="522798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DA26183-9383-47A0-AB20-5367DC3C26DF}"/>
                </a:ext>
              </a:extLst>
            </p:cNvPr>
            <p:cNvSpPr/>
            <p:nvPr/>
          </p:nvSpPr>
          <p:spPr>
            <a:xfrm>
              <a:off x="7962094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Truck with solid fill">
              <a:extLst>
                <a:ext uri="{FF2B5EF4-FFF2-40B4-BE49-F238E27FC236}">
                  <a16:creationId xmlns:a16="http://schemas.microsoft.com/office/drawing/2014/main" id="{8AF899C6-AC2C-4F99-9F11-A418528F6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308982" y="1728344"/>
              <a:ext cx="365760" cy="36576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E634139-C09B-4448-8371-C17232246365}"/>
                </a:ext>
              </a:extLst>
            </p:cNvPr>
            <p:cNvSpPr txBox="1"/>
            <p:nvPr/>
          </p:nvSpPr>
          <p:spPr>
            <a:xfrm>
              <a:off x="8013605" y="1716644"/>
              <a:ext cx="1417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Units Sold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7445FBF-A4DE-4C91-842D-FB63FFDEC737}"/>
              </a:ext>
            </a:extLst>
          </p:cNvPr>
          <p:cNvGrpSpPr/>
          <p:nvPr/>
        </p:nvGrpSpPr>
        <p:grpSpPr>
          <a:xfrm>
            <a:off x="10750149" y="1630016"/>
            <a:ext cx="1441852" cy="5138337"/>
            <a:chOff x="11153569" y="1630016"/>
            <a:chExt cx="1038431" cy="513833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136491-5FED-4FF9-913E-640ADF171A6C}"/>
                </a:ext>
              </a:extLst>
            </p:cNvPr>
            <p:cNvSpPr/>
            <p:nvPr/>
          </p:nvSpPr>
          <p:spPr>
            <a:xfrm>
              <a:off x="11153569" y="1630016"/>
              <a:ext cx="1038431" cy="5138337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Lightbulb with solid fill">
              <a:extLst>
                <a:ext uri="{FF2B5EF4-FFF2-40B4-BE49-F238E27FC236}">
                  <a16:creationId xmlns:a16="http://schemas.microsoft.com/office/drawing/2014/main" id="{85A2948D-B2F0-4C6B-8578-7BE862E38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858513" y="1664901"/>
              <a:ext cx="274320" cy="27432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9C5375-BDA9-48EB-9473-713D085EED57}"/>
                </a:ext>
              </a:extLst>
            </p:cNvPr>
            <p:cNvSpPr txBox="1"/>
            <p:nvPr/>
          </p:nvSpPr>
          <p:spPr>
            <a:xfrm>
              <a:off x="11184371" y="1665003"/>
              <a:ext cx="7955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144E75"/>
                  </a:solidFill>
                </a:rPr>
                <a:t>Insights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4237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 Background">
            <a:extLst>
              <a:ext uri="{FF2B5EF4-FFF2-40B4-BE49-F238E27FC236}">
                <a16:creationId xmlns:a16="http://schemas.microsoft.com/office/drawing/2014/main" id="{E095845E-6046-4C15-954A-7AB89635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op Background">
            <a:extLst>
              <a:ext uri="{FF2B5EF4-FFF2-40B4-BE49-F238E27FC236}">
                <a16:creationId xmlns:a16="http://schemas.microsoft.com/office/drawing/2014/main" id="{89B7693C-54E6-4DCB-8025-D295DFB584D4}"/>
              </a:ext>
            </a:extLst>
          </p:cNvPr>
          <p:cNvSpPr/>
          <p:nvPr/>
        </p:nvSpPr>
        <p:spPr>
          <a:xfrm>
            <a:off x="1" y="0"/>
            <a:ext cx="1317812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>
            <a:outerShdw blurRad="76200" dist="76200" sx="102000" sy="102000" algn="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5E4EB-B644-4EC4-841B-F83A9D3961FA}"/>
              </a:ext>
            </a:extLst>
          </p:cNvPr>
          <p:cNvSpPr/>
          <p:nvPr/>
        </p:nvSpPr>
        <p:spPr>
          <a:xfrm>
            <a:off x="1489494" y="484094"/>
            <a:ext cx="10702507" cy="1049432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A6CB28-B287-4178-B59A-021D654E960E}"/>
              </a:ext>
            </a:extLst>
          </p:cNvPr>
          <p:cNvSpPr/>
          <p:nvPr/>
        </p:nvSpPr>
        <p:spPr>
          <a:xfrm>
            <a:off x="1489494" y="1630017"/>
            <a:ext cx="8953192" cy="5227983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7445FBF-A4DE-4C91-842D-FB63FFDEC737}"/>
              </a:ext>
            </a:extLst>
          </p:cNvPr>
          <p:cNvGrpSpPr/>
          <p:nvPr/>
        </p:nvGrpSpPr>
        <p:grpSpPr>
          <a:xfrm>
            <a:off x="10554040" y="1630016"/>
            <a:ext cx="1637962" cy="5138337"/>
            <a:chOff x="11153569" y="1630016"/>
            <a:chExt cx="1038431" cy="513833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136491-5FED-4FF9-913E-640ADF171A6C}"/>
                </a:ext>
              </a:extLst>
            </p:cNvPr>
            <p:cNvSpPr/>
            <p:nvPr/>
          </p:nvSpPr>
          <p:spPr>
            <a:xfrm>
              <a:off x="11153569" y="1630016"/>
              <a:ext cx="1038431" cy="5138337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Lightbulb with solid fill">
              <a:extLst>
                <a:ext uri="{FF2B5EF4-FFF2-40B4-BE49-F238E27FC236}">
                  <a16:creationId xmlns:a16="http://schemas.microsoft.com/office/drawing/2014/main" id="{85A2948D-B2F0-4C6B-8578-7BE862E38396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23271" y="1664900"/>
              <a:ext cx="202898" cy="32004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9C5375-BDA9-48EB-9473-713D085EED57}"/>
                </a:ext>
              </a:extLst>
            </p:cNvPr>
            <p:cNvSpPr txBox="1"/>
            <p:nvPr/>
          </p:nvSpPr>
          <p:spPr>
            <a:xfrm>
              <a:off x="11184371" y="1647073"/>
              <a:ext cx="6520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144E75"/>
                  </a:solidFill>
                </a:rPr>
                <a:t>Insights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6A129EF-69C3-416F-8F6D-7C263DEF56DC}"/>
              </a:ext>
            </a:extLst>
          </p:cNvPr>
          <p:cNvSpPr/>
          <p:nvPr/>
        </p:nvSpPr>
        <p:spPr>
          <a:xfrm>
            <a:off x="1790073" y="2194638"/>
            <a:ext cx="3432130" cy="2157984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77BACF-6C81-4392-8E17-16E9037E07B4}"/>
              </a:ext>
            </a:extLst>
          </p:cNvPr>
          <p:cNvSpPr/>
          <p:nvPr/>
        </p:nvSpPr>
        <p:spPr>
          <a:xfrm>
            <a:off x="1811842" y="4568024"/>
            <a:ext cx="3432130" cy="2157984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6FE6601-2231-4585-B3A3-677AF63EEC28}"/>
              </a:ext>
            </a:extLst>
          </p:cNvPr>
          <p:cNvSpPr/>
          <p:nvPr/>
        </p:nvSpPr>
        <p:spPr>
          <a:xfrm>
            <a:off x="5599829" y="2194637"/>
            <a:ext cx="4553712" cy="2153715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952C96C-7C30-47E4-B273-D9CAE576F075}"/>
              </a:ext>
            </a:extLst>
          </p:cNvPr>
          <p:cNvSpPr/>
          <p:nvPr/>
        </p:nvSpPr>
        <p:spPr>
          <a:xfrm>
            <a:off x="5599829" y="4551168"/>
            <a:ext cx="4553712" cy="2157984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362297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 Background">
            <a:extLst>
              <a:ext uri="{FF2B5EF4-FFF2-40B4-BE49-F238E27FC236}">
                <a16:creationId xmlns:a16="http://schemas.microsoft.com/office/drawing/2014/main" id="{E095845E-6046-4C15-954A-7AB89635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op Background">
            <a:extLst>
              <a:ext uri="{FF2B5EF4-FFF2-40B4-BE49-F238E27FC236}">
                <a16:creationId xmlns:a16="http://schemas.microsoft.com/office/drawing/2014/main" id="{89B7693C-54E6-4DCB-8025-D295DFB584D4}"/>
              </a:ext>
            </a:extLst>
          </p:cNvPr>
          <p:cNvSpPr/>
          <p:nvPr/>
        </p:nvSpPr>
        <p:spPr>
          <a:xfrm>
            <a:off x="1" y="0"/>
            <a:ext cx="1317812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>
            <a:outerShdw blurRad="76200" dist="76200" sx="102000" sy="102000" algn="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5E4EB-B644-4EC4-841B-F83A9D3961FA}"/>
              </a:ext>
            </a:extLst>
          </p:cNvPr>
          <p:cNvSpPr/>
          <p:nvPr/>
        </p:nvSpPr>
        <p:spPr>
          <a:xfrm>
            <a:off x="1489494" y="484094"/>
            <a:ext cx="10702507" cy="1049432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A6CB28-B287-4178-B59A-021D654E960E}"/>
              </a:ext>
            </a:extLst>
          </p:cNvPr>
          <p:cNvSpPr/>
          <p:nvPr/>
        </p:nvSpPr>
        <p:spPr>
          <a:xfrm>
            <a:off x="1489494" y="1630017"/>
            <a:ext cx="8953192" cy="5227983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7445FBF-A4DE-4C91-842D-FB63FFDEC737}"/>
              </a:ext>
            </a:extLst>
          </p:cNvPr>
          <p:cNvGrpSpPr/>
          <p:nvPr/>
        </p:nvGrpSpPr>
        <p:grpSpPr>
          <a:xfrm>
            <a:off x="10554040" y="1630016"/>
            <a:ext cx="1637962" cy="5138337"/>
            <a:chOff x="11153569" y="1630016"/>
            <a:chExt cx="1038431" cy="513833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136491-5FED-4FF9-913E-640ADF171A6C}"/>
                </a:ext>
              </a:extLst>
            </p:cNvPr>
            <p:cNvSpPr/>
            <p:nvPr/>
          </p:nvSpPr>
          <p:spPr>
            <a:xfrm>
              <a:off x="11153569" y="1630016"/>
              <a:ext cx="1038431" cy="5138337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Lightbulb with solid fill">
              <a:extLst>
                <a:ext uri="{FF2B5EF4-FFF2-40B4-BE49-F238E27FC236}">
                  <a16:creationId xmlns:a16="http://schemas.microsoft.com/office/drawing/2014/main" id="{85A2948D-B2F0-4C6B-8578-7BE862E38396}"/>
                </a:ext>
              </a:extLst>
            </p:cNvPr>
            <p:cNvPicPr>
              <a:picLocks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1823271" y="1664900"/>
              <a:ext cx="202898" cy="32004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9C5375-BDA9-48EB-9473-713D085EED57}"/>
                </a:ext>
              </a:extLst>
            </p:cNvPr>
            <p:cNvSpPr txBox="1"/>
            <p:nvPr/>
          </p:nvSpPr>
          <p:spPr>
            <a:xfrm>
              <a:off x="11184371" y="1647073"/>
              <a:ext cx="65202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144E75"/>
                  </a:solidFill>
                </a:rPr>
                <a:t>Insights</a:t>
              </a:r>
            </a:p>
          </p:txBody>
        </p:sp>
      </p:grp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A6A129EF-69C3-416F-8F6D-7C263DEF56DC}"/>
              </a:ext>
            </a:extLst>
          </p:cNvPr>
          <p:cNvSpPr/>
          <p:nvPr/>
        </p:nvSpPr>
        <p:spPr>
          <a:xfrm>
            <a:off x="1790073" y="2194638"/>
            <a:ext cx="3432130" cy="2157984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7277BACF-6C81-4392-8E17-16E9037E07B4}"/>
              </a:ext>
            </a:extLst>
          </p:cNvPr>
          <p:cNvSpPr/>
          <p:nvPr/>
        </p:nvSpPr>
        <p:spPr>
          <a:xfrm>
            <a:off x="1811842" y="4568024"/>
            <a:ext cx="3432130" cy="2157984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2" name="Rectangle: Rounded Corners 31">
            <a:extLst>
              <a:ext uri="{FF2B5EF4-FFF2-40B4-BE49-F238E27FC236}">
                <a16:creationId xmlns:a16="http://schemas.microsoft.com/office/drawing/2014/main" id="{E6FE6601-2231-4585-B3A3-677AF63EEC28}"/>
              </a:ext>
            </a:extLst>
          </p:cNvPr>
          <p:cNvSpPr/>
          <p:nvPr/>
        </p:nvSpPr>
        <p:spPr>
          <a:xfrm>
            <a:off x="5599829" y="2194637"/>
            <a:ext cx="4553712" cy="2153715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4" name="Rectangle: Rounded Corners 33">
            <a:extLst>
              <a:ext uri="{FF2B5EF4-FFF2-40B4-BE49-F238E27FC236}">
                <a16:creationId xmlns:a16="http://schemas.microsoft.com/office/drawing/2014/main" id="{6952C96C-7C30-47E4-B273-D9CAE576F075}"/>
              </a:ext>
            </a:extLst>
          </p:cNvPr>
          <p:cNvSpPr/>
          <p:nvPr/>
        </p:nvSpPr>
        <p:spPr>
          <a:xfrm>
            <a:off x="5599829" y="4551168"/>
            <a:ext cx="4553712" cy="2157984"/>
          </a:xfrm>
          <a:prstGeom prst="roundRect">
            <a:avLst>
              <a:gd name="adj" fmla="val 8093"/>
            </a:avLst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lowchart: Terminator 34">
            <a:extLst>
              <a:ext uri="{FF2B5EF4-FFF2-40B4-BE49-F238E27FC236}">
                <a16:creationId xmlns:a16="http://schemas.microsoft.com/office/drawing/2014/main" id="{100106E2-942B-477A-9BB6-B229A68E0052}"/>
              </a:ext>
            </a:extLst>
          </p:cNvPr>
          <p:cNvSpPr/>
          <p:nvPr/>
        </p:nvSpPr>
        <p:spPr>
          <a:xfrm>
            <a:off x="4837825" y="1696660"/>
            <a:ext cx="1596914" cy="365760"/>
          </a:xfrm>
          <a:prstGeom prst="flowChartTerminator">
            <a:avLst/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6" name="Flowchart: Terminator 35">
            <a:extLst>
              <a:ext uri="{FF2B5EF4-FFF2-40B4-BE49-F238E27FC236}">
                <a16:creationId xmlns:a16="http://schemas.microsoft.com/office/drawing/2014/main" id="{0289EB4E-6D16-4EA1-943D-FBF704EB9609}"/>
              </a:ext>
            </a:extLst>
          </p:cNvPr>
          <p:cNvSpPr/>
          <p:nvPr/>
        </p:nvSpPr>
        <p:spPr>
          <a:xfrm>
            <a:off x="6675124" y="1697599"/>
            <a:ext cx="1596914" cy="365760"/>
          </a:xfrm>
          <a:prstGeom prst="flowChartTerminator">
            <a:avLst/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7" name="Flowchart: Terminator 36">
            <a:extLst>
              <a:ext uri="{FF2B5EF4-FFF2-40B4-BE49-F238E27FC236}">
                <a16:creationId xmlns:a16="http://schemas.microsoft.com/office/drawing/2014/main" id="{2D0B2D6A-5F1C-4960-8FED-36110CDB645D}"/>
              </a:ext>
            </a:extLst>
          </p:cNvPr>
          <p:cNvSpPr/>
          <p:nvPr/>
        </p:nvSpPr>
        <p:spPr>
          <a:xfrm>
            <a:off x="8497515" y="1694395"/>
            <a:ext cx="1596914" cy="365760"/>
          </a:xfrm>
          <a:prstGeom prst="flowChartTerminator">
            <a:avLst/>
          </a:prstGeom>
          <a:solidFill>
            <a:srgbClr val="E5E5E5"/>
          </a:solidFill>
          <a:ln>
            <a:noFill/>
          </a:ln>
          <a:effectLst>
            <a:outerShdw blurRad="63500" sx="105000" sy="105000" algn="ctr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421458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 Background">
            <a:extLst>
              <a:ext uri="{FF2B5EF4-FFF2-40B4-BE49-F238E27FC236}">
                <a16:creationId xmlns:a16="http://schemas.microsoft.com/office/drawing/2014/main" id="{E095845E-6046-4C15-954A-7AB89635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op Background">
            <a:extLst>
              <a:ext uri="{FF2B5EF4-FFF2-40B4-BE49-F238E27FC236}">
                <a16:creationId xmlns:a16="http://schemas.microsoft.com/office/drawing/2014/main" id="{89B7693C-54E6-4DCB-8025-D295DFB584D4}"/>
              </a:ext>
            </a:extLst>
          </p:cNvPr>
          <p:cNvSpPr/>
          <p:nvPr/>
        </p:nvSpPr>
        <p:spPr>
          <a:xfrm>
            <a:off x="1" y="0"/>
            <a:ext cx="1317812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>
            <a:outerShdw blurRad="76200" dist="76200" sx="102000" sy="102000" algn="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5E4EB-B644-4EC4-841B-F83A9D3961FA}"/>
              </a:ext>
            </a:extLst>
          </p:cNvPr>
          <p:cNvSpPr/>
          <p:nvPr/>
        </p:nvSpPr>
        <p:spPr>
          <a:xfrm>
            <a:off x="1489494" y="484094"/>
            <a:ext cx="10702507" cy="1049432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755C6A8-F33F-497E-8810-2F0D2D88D3CE}"/>
              </a:ext>
            </a:extLst>
          </p:cNvPr>
          <p:cNvGrpSpPr/>
          <p:nvPr/>
        </p:nvGrpSpPr>
        <p:grpSpPr>
          <a:xfrm>
            <a:off x="1489494" y="1630016"/>
            <a:ext cx="2918792" cy="5227983"/>
            <a:chOff x="1579144" y="1630016"/>
            <a:chExt cx="2918792" cy="522798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5A6CB28-B287-4178-B59A-021D654E960E}"/>
                </a:ext>
              </a:extLst>
            </p:cNvPr>
            <p:cNvSpPr/>
            <p:nvPr/>
          </p:nvSpPr>
          <p:spPr>
            <a:xfrm>
              <a:off x="1579144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Dollar with solid fill">
              <a:extLst>
                <a:ext uri="{FF2B5EF4-FFF2-40B4-BE49-F238E27FC236}">
                  <a16:creationId xmlns:a16="http://schemas.microsoft.com/office/drawing/2014/main" id="{5AE88AC4-FC33-4297-89C3-FCACD957F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3980692" y="1728344"/>
              <a:ext cx="365760" cy="36576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2EA1CB-9538-40EF-BE31-E24A343B7C8B}"/>
                </a:ext>
              </a:extLst>
            </p:cNvPr>
            <p:cNvSpPr txBox="1"/>
            <p:nvPr/>
          </p:nvSpPr>
          <p:spPr>
            <a:xfrm>
              <a:off x="1711419" y="1716644"/>
              <a:ext cx="1147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Revenue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FE8CBB-2644-4327-9C59-101B18B493C2}"/>
              </a:ext>
            </a:extLst>
          </p:cNvPr>
          <p:cNvGrpSpPr/>
          <p:nvPr/>
        </p:nvGrpSpPr>
        <p:grpSpPr>
          <a:xfrm>
            <a:off x="4582354" y="1630016"/>
            <a:ext cx="2918792" cy="5227983"/>
            <a:chOff x="4770619" y="1630016"/>
            <a:chExt cx="2918792" cy="522798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3AF7B01-7097-43B9-B01B-7EA7830A5020}"/>
                </a:ext>
              </a:extLst>
            </p:cNvPr>
            <p:cNvSpPr/>
            <p:nvPr/>
          </p:nvSpPr>
          <p:spPr>
            <a:xfrm>
              <a:off x="4770619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 descr="Money with solid fill">
              <a:extLst>
                <a:ext uri="{FF2B5EF4-FFF2-40B4-BE49-F238E27FC236}">
                  <a16:creationId xmlns:a16="http://schemas.microsoft.com/office/drawing/2014/main" id="{61E5678D-61BF-42A4-8771-0FEF626A2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095052" y="1719379"/>
              <a:ext cx="365760" cy="36576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F2AD758-ACEA-4FFE-8824-81D30051BA8D}"/>
                </a:ext>
              </a:extLst>
            </p:cNvPr>
            <p:cNvSpPr txBox="1"/>
            <p:nvPr/>
          </p:nvSpPr>
          <p:spPr>
            <a:xfrm>
              <a:off x="4886062" y="1715606"/>
              <a:ext cx="15685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Gross Profit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F053565-3E56-4099-A16C-F09300C60A61}"/>
              </a:ext>
            </a:extLst>
          </p:cNvPr>
          <p:cNvGrpSpPr/>
          <p:nvPr/>
        </p:nvGrpSpPr>
        <p:grpSpPr>
          <a:xfrm>
            <a:off x="7666251" y="1630016"/>
            <a:ext cx="2918792" cy="5227983"/>
            <a:chOff x="7962094" y="1630016"/>
            <a:chExt cx="2918792" cy="522798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DA26183-9383-47A0-AB20-5367DC3C26DF}"/>
                </a:ext>
              </a:extLst>
            </p:cNvPr>
            <p:cNvSpPr/>
            <p:nvPr/>
          </p:nvSpPr>
          <p:spPr>
            <a:xfrm>
              <a:off x="7962094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Truck with solid fill">
              <a:extLst>
                <a:ext uri="{FF2B5EF4-FFF2-40B4-BE49-F238E27FC236}">
                  <a16:creationId xmlns:a16="http://schemas.microsoft.com/office/drawing/2014/main" id="{8AF899C6-AC2C-4F99-9F11-A418528F6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10308982" y="1728344"/>
              <a:ext cx="365760" cy="36576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E634139-C09B-4448-8371-C17232246365}"/>
                </a:ext>
              </a:extLst>
            </p:cNvPr>
            <p:cNvSpPr txBox="1"/>
            <p:nvPr/>
          </p:nvSpPr>
          <p:spPr>
            <a:xfrm>
              <a:off x="8013605" y="1716644"/>
              <a:ext cx="1417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Units Sold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7445FBF-A4DE-4C91-842D-FB63FFDEC737}"/>
              </a:ext>
            </a:extLst>
          </p:cNvPr>
          <p:cNvGrpSpPr/>
          <p:nvPr/>
        </p:nvGrpSpPr>
        <p:grpSpPr>
          <a:xfrm>
            <a:off x="10750149" y="1630016"/>
            <a:ext cx="1441852" cy="5138337"/>
            <a:chOff x="11153569" y="1630016"/>
            <a:chExt cx="1038431" cy="513833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136491-5FED-4FF9-913E-640ADF171A6C}"/>
                </a:ext>
              </a:extLst>
            </p:cNvPr>
            <p:cNvSpPr/>
            <p:nvPr/>
          </p:nvSpPr>
          <p:spPr>
            <a:xfrm>
              <a:off x="11153569" y="1630016"/>
              <a:ext cx="1038431" cy="5138337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Lightbulb with solid fill">
              <a:extLst>
                <a:ext uri="{FF2B5EF4-FFF2-40B4-BE49-F238E27FC236}">
                  <a16:creationId xmlns:a16="http://schemas.microsoft.com/office/drawing/2014/main" id="{85A2948D-B2F0-4C6B-8578-7BE862E38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11858513" y="1664901"/>
              <a:ext cx="274320" cy="27432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9C5375-BDA9-48EB-9473-713D085EED57}"/>
                </a:ext>
              </a:extLst>
            </p:cNvPr>
            <p:cNvSpPr txBox="1"/>
            <p:nvPr/>
          </p:nvSpPr>
          <p:spPr>
            <a:xfrm>
              <a:off x="11184371" y="1665003"/>
              <a:ext cx="7955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144E75"/>
                  </a:solidFill>
                </a:rPr>
                <a:t>Insights</a:t>
              </a:r>
            </a:p>
          </p:txBody>
        </p:sp>
      </p:grpSp>
      <p:pic>
        <p:nvPicPr>
          <p:cNvPr id="21" name="Graphic 20" descr="Dollar with solid fill">
            <a:extLst>
              <a:ext uri="{FF2B5EF4-FFF2-40B4-BE49-F238E27FC236}">
                <a16:creationId xmlns:a16="http://schemas.microsoft.com/office/drawing/2014/main" id="{B5A783BC-E0E1-4B38-A820-076E04B54F5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686867" y="3515878"/>
            <a:ext cx="457201" cy="409430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6742DC6-185D-499E-9227-652AE5774078}"/>
              </a:ext>
            </a:extLst>
          </p:cNvPr>
          <p:cNvSpPr txBox="1"/>
          <p:nvPr/>
        </p:nvSpPr>
        <p:spPr>
          <a:xfrm>
            <a:off x="1326205" y="3466600"/>
            <a:ext cx="201198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b="1" dirty="0">
                <a:solidFill>
                  <a:srgbClr val="144E75"/>
                </a:solidFill>
              </a:rPr>
              <a:t>Revenue</a:t>
            </a:r>
          </a:p>
        </p:txBody>
      </p:sp>
    </p:spTree>
    <p:extLst>
      <p:ext uri="{BB962C8B-B14F-4D97-AF65-F5344CB8AC3E}">
        <p14:creationId xmlns:p14="http://schemas.microsoft.com/office/powerpoint/2010/main" val="16050280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E5E5E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 Background">
            <a:extLst>
              <a:ext uri="{FF2B5EF4-FFF2-40B4-BE49-F238E27FC236}">
                <a16:creationId xmlns:a16="http://schemas.microsoft.com/office/drawing/2014/main" id="{E095845E-6046-4C15-954A-7AB89635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op Background">
            <a:extLst>
              <a:ext uri="{FF2B5EF4-FFF2-40B4-BE49-F238E27FC236}">
                <a16:creationId xmlns:a16="http://schemas.microsoft.com/office/drawing/2014/main" id="{89B7693C-54E6-4DCB-8025-D295DFB584D4}"/>
              </a:ext>
            </a:extLst>
          </p:cNvPr>
          <p:cNvSpPr/>
          <p:nvPr/>
        </p:nvSpPr>
        <p:spPr>
          <a:xfrm>
            <a:off x="1" y="0"/>
            <a:ext cx="1317812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>
            <a:outerShdw blurRad="76200" dist="76200" sx="102000" sy="102000" algn="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5E4EB-B644-4EC4-841B-F83A9D3961FA}"/>
              </a:ext>
            </a:extLst>
          </p:cNvPr>
          <p:cNvSpPr/>
          <p:nvPr/>
        </p:nvSpPr>
        <p:spPr>
          <a:xfrm>
            <a:off x="1398494" y="1075765"/>
            <a:ext cx="10712824" cy="5782235"/>
          </a:xfrm>
          <a:prstGeom prst="roundRect">
            <a:avLst>
              <a:gd name="adj" fmla="val 5554"/>
            </a:avLst>
          </a:prstGeom>
          <a:solidFill>
            <a:srgbClr val="E5E5E5"/>
          </a:solidFill>
          <a:ln w="28575">
            <a:noFill/>
          </a:ln>
          <a:effectLst>
            <a:glow rad="203200">
              <a:srgbClr val="144E75">
                <a:alpha val="35000"/>
              </a:srgbClr>
            </a:glow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noFill/>
            </a:endParaRPr>
          </a:p>
        </p:txBody>
      </p:sp>
    </p:spTree>
    <p:extLst>
      <p:ext uri="{BB962C8B-B14F-4D97-AF65-F5344CB8AC3E}">
        <p14:creationId xmlns:p14="http://schemas.microsoft.com/office/powerpoint/2010/main" val="136535183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 Background">
            <a:extLst>
              <a:ext uri="{FF2B5EF4-FFF2-40B4-BE49-F238E27FC236}">
                <a16:creationId xmlns:a16="http://schemas.microsoft.com/office/drawing/2014/main" id="{E095845E-6046-4C15-954A-7AB89635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op Background">
            <a:extLst>
              <a:ext uri="{FF2B5EF4-FFF2-40B4-BE49-F238E27FC236}">
                <a16:creationId xmlns:a16="http://schemas.microsoft.com/office/drawing/2014/main" id="{89B7693C-54E6-4DCB-8025-D295DFB584D4}"/>
              </a:ext>
            </a:extLst>
          </p:cNvPr>
          <p:cNvSpPr/>
          <p:nvPr/>
        </p:nvSpPr>
        <p:spPr>
          <a:xfrm>
            <a:off x="1" y="0"/>
            <a:ext cx="1317812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>
            <a:outerShdw blurRad="76200" dist="76200" sx="102000" sy="102000" algn="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5E4EB-B644-4EC4-841B-F83A9D3961FA}"/>
              </a:ext>
            </a:extLst>
          </p:cNvPr>
          <p:cNvSpPr/>
          <p:nvPr/>
        </p:nvSpPr>
        <p:spPr>
          <a:xfrm>
            <a:off x="3818965" y="89647"/>
            <a:ext cx="8373035" cy="1443879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roup 42">
            <a:extLst>
              <a:ext uri="{FF2B5EF4-FFF2-40B4-BE49-F238E27FC236}">
                <a16:creationId xmlns:a16="http://schemas.microsoft.com/office/drawing/2014/main" id="{426AAF74-CA88-468D-BA86-65E6DCC1BEF6}"/>
              </a:ext>
            </a:extLst>
          </p:cNvPr>
          <p:cNvGrpSpPr/>
          <p:nvPr/>
        </p:nvGrpSpPr>
        <p:grpSpPr>
          <a:xfrm>
            <a:off x="264799" y="0"/>
            <a:ext cx="806145" cy="597653"/>
            <a:chOff x="264799" y="0"/>
            <a:chExt cx="806145" cy="597653"/>
          </a:xfrm>
        </p:grpSpPr>
        <p:pic>
          <p:nvPicPr>
            <p:cNvPr id="3" name="Graphic 2" descr="Briefcase with solid fill">
              <a:extLst>
                <a:ext uri="{FF2B5EF4-FFF2-40B4-BE49-F238E27FC236}">
                  <a16:creationId xmlns:a16="http://schemas.microsoft.com/office/drawing/2014/main" id="{ECD7C0B7-6C42-4286-951B-BE7AF1C04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430307" y="0"/>
              <a:ext cx="457200" cy="4572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CAC1C9-EDA5-4313-9351-99D237A0FB8B}"/>
                </a:ext>
              </a:extLst>
            </p:cNvPr>
            <p:cNvSpPr txBox="1"/>
            <p:nvPr/>
          </p:nvSpPr>
          <p:spPr>
            <a:xfrm>
              <a:off x="264799" y="366821"/>
              <a:ext cx="8061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Executive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531605-95A2-4957-AF05-905F37C5D456}"/>
              </a:ext>
            </a:extLst>
          </p:cNvPr>
          <p:cNvGrpSpPr/>
          <p:nvPr/>
        </p:nvGrpSpPr>
        <p:grpSpPr>
          <a:xfrm>
            <a:off x="272196" y="647677"/>
            <a:ext cx="806145" cy="622640"/>
            <a:chOff x="272196" y="647677"/>
            <a:chExt cx="806145" cy="622640"/>
          </a:xfrm>
        </p:grpSpPr>
        <p:pic>
          <p:nvPicPr>
            <p:cNvPr id="29" name="Graphic 28" descr="Shopping cart with solid fill">
              <a:extLst>
                <a:ext uri="{FF2B5EF4-FFF2-40B4-BE49-F238E27FC236}">
                  <a16:creationId xmlns:a16="http://schemas.microsoft.com/office/drawing/2014/main" id="{54F952DE-7CD7-4600-94E9-FAE4248AF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430307" y="647677"/>
              <a:ext cx="457200" cy="4572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BD6D2E-1D7D-4664-B837-98C15EF80334}"/>
                </a:ext>
              </a:extLst>
            </p:cNvPr>
            <p:cNvSpPr txBox="1"/>
            <p:nvPr/>
          </p:nvSpPr>
          <p:spPr>
            <a:xfrm>
              <a:off x="272196" y="1039485"/>
              <a:ext cx="8061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Sales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10164E-A6FC-4521-A95F-6C6F16889B52}"/>
              </a:ext>
            </a:extLst>
          </p:cNvPr>
          <p:cNvGrpSpPr/>
          <p:nvPr/>
        </p:nvGrpSpPr>
        <p:grpSpPr>
          <a:xfrm>
            <a:off x="71717" y="1282338"/>
            <a:ext cx="1147752" cy="680859"/>
            <a:chOff x="71717" y="1282338"/>
            <a:chExt cx="1147752" cy="680859"/>
          </a:xfrm>
        </p:grpSpPr>
        <p:pic>
          <p:nvPicPr>
            <p:cNvPr id="19" name="Graphic 18" descr="Group brainstorm with solid fill">
              <a:extLst>
                <a:ext uri="{FF2B5EF4-FFF2-40B4-BE49-F238E27FC236}">
                  <a16:creationId xmlns:a16="http://schemas.microsoft.com/office/drawing/2014/main" id="{4CFC67D5-FDC9-453A-8297-E127A6BD6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30306" y="1282338"/>
              <a:ext cx="457200" cy="4572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AB4F118-8839-4EBE-B310-CFE761EEF358}"/>
                </a:ext>
              </a:extLst>
            </p:cNvPr>
            <p:cNvSpPr txBox="1"/>
            <p:nvPr/>
          </p:nvSpPr>
          <p:spPr>
            <a:xfrm>
              <a:off x="71717" y="1732365"/>
              <a:ext cx="11477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Customer Insights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509EF3-0416-4DC7-B2BA-E847CD652AFA}"/>
              </a:ext>
            </a:extLst>
          </p:cNvPr>
          <p:cNvGrpSpPr/>
          <p:nvPr/>
        </p:nvGrpSpPr>
        <p:grpSpPr>
          <a:xfrm>
            <a:off x="71717" y="2779279"/>
            <a:ext cx="1147752" cy="640278"/>
            <a:chOff x="71717" y="1972458"/>
            <a:chExt cx="1147752" cy="640278"/>
          </a:xfrm>
        </p:grpSpPr>
        <p:pic>
          <p:nvPicPr>
            <p:cNvPr id="23" name="Graphic 22" descr="Lightbulb and gear with solid fill">
              <a:extLst>
                <a:ext uri="{FF2B5EF4-FFF2-40B4-BE49-F238E27FC236}">
                  <a16:creationId xmlns:a16="http://schemas.microsoft.com/office/drawing/2014/main" id="{1E3A1512-E04B-4993-9945-4180AD22B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30306" y="1972458"/>
              <a:ext cx="457200" cy="4572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3F8404F-A1CE-46AE-AEA9-B4EB279F6363}"/>
                </a:ext>
              </a:extLst>
            </p:cNvPr>
            <p:cNvSpPr txBox="1"/>
            <p:nvPr/>
          </p:nvSpPr>
          <p:spPr>
            <a:xfrm>
              <a:off x="71717" y="2381904"/>
              <a:ext cx="11477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What-If Analysis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1A08BDB-74CE-4ABD-A86E-0F06C79CB6D3}"/>
              </a:ext>
            </a:extLst>
          </p:cNvPr>
          <p:cNvGrpSpPr/>
          <p:nvPr/>
        </p:nvGrpSpPr>
        <p:grpSpPr>
          <a:xfrm>
            <a:off x="93790" y="1942461"/>
            <a:ext cx="1147752" cy="786425"/>
            <a:chOff x="93790" y="1942461"/>
            <a:chExt cx="1147752" cy="786425"/>
          </a:xfrm>
        </p:grpSpPr>
        <p:pic>
          <p:nvPicPr>
            <p:cNvPr id="13" name="Graphic 12" descr="Bullseye with solid fill">
              <a:extLst>
                <a:ext uri="{FF2B5EF4-FFF2-40B4-BE49-F238E27FC236}">
                  <a16:creationId xmlns:a16="http://schemas.microsoft.com/office/drawing/2014/main" id="{D4FD78CD-158C-4559-BCD1-25E12634B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430306" y="1942461"/>
              <a:ext cx="457200" cy="45720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D8C0B2C-C9F9-4E12-9395-A9DF2CEC2C27}"/>
                </a:ext>
              </a:extLst>
            </p:cNvPr>
            <p:cNvSpPr txBox="1"/>
            <p:nvPr/>
          </p:nvSpPr>
          <p:spPr>
            <a:xfrm>
              <a:off x="93790" y="2359554"/>
              <a:ext cx="1147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Sales Person Performance</a:t>
              </a:r>
            </a:p>
          </p:txBody>
        </p:sp>
      </p:grpSp>
      <p:grpSp>
        <p:nvGrpSpPr>
          <p:cNvPr id="50" name="Group 49">
            <a:extLst>
              <a:ext uri="{FF2B5EF4-FFF2-40B4-BE49-F238E27FC236}">
                <a16:creationId xmlns:a16="http://schemas.microsoft.com/office/drawing/2014/main" id="{B755C6A8-F33F-497E-8810-2F0D2D88D3CE}"/>
              </a:ext>
            </a:extLst>
          </p:cNvPr>
          <p:cNvGrpSpPr/>
          <p:nvPr/>
        </p:nvGrpSpPr>
        <p:grpSpPr>
          <a:xfrm>
            <a:off x="1579144" y="1630016"/>
            <a:ext cx="2918792" cy="5227983"/>
            <a:chOff x="1579144" y="1630016"/>
            <a:chExt cx="2918792" cy="5227983"/>
          </a:xfrm>
        </p:grpSpPr>
        <p:sp>
          <p:nvSpPr>
            <p:cNvPr id="8" name="Rectangle: Rounded Corners 7">
              <a:extLst>
                <a:ext uri="{FF2B5EF4-FFF2-40B4-BE49-F238E27FC236}">
                  <a16:creationId xmlns:a16="http://schemas.microsoft.com/office/drawing/2014/main" id="{55A6CB28-B287-4178-B59A-021D654E960E}"/>
                </a:ext>
              </a:extLst>
            </p:cNvPr>
            <p:cNvSpPr/>
            <p:nvPr/>
          </p:nvSpPr>
          <p:spPr>
            <a:xfrm>
              <a:off x="1579144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15" name="Graphic 14" descr="Dollar with solid fill">
              <a:extLst>
                <a:ext uri="{FF2B5EF4-FFF2-40B4-BE49-F238E27FC236}">
                  <a16:creationId xmlns:a16="http://schemas.microsoft.com/office/drawing/2014/main" id="{5AE88AC4-FC33-4297-89C3-FCACD957F1F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3980692" y="1728344"/>
              <a:ext cx="365760" cy="365760"/>
            </a:xfrm>
            <a:prstGeom prst="rect">
              <a:avLst/>
            </a:prstGeom>
          </p:spPr>
        </p:pic>
        <p:sp>
          <p:nvSpPr>
            <p:cNvPr id="47" name="TextBox 46">
              <a:extLst>
                <a:ext uri="{FF2B5EF4-FFF2-40B4-BE49-F238E27FC236}">
                  <a16:creationId xmlns:a16="http://schemas.microsoft.com/office/drawing/2014/main" id="{9B2EA1CB-9538-40EF-BE31-E24A343B7C8B}"/>
                </a:ext>
              </a:extLst>
            </p:cNvPr>
            <p:cNvSpPr txBox="1"/>
            <p:nvPr/>
          </p:nvSpPr>
          <p:spPr>
            <a:xfrm>
              <a:off x="1711419" y="1716644"/>
              <a:ext cx="1147752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Revenue</a:t>
              </a:r>
            </a:p>
          </p:txBody>
        </p:sp>
      </p:grpSp>
      <p:grpSp>
        <p:nvGrpSpPr>
          <p:cNvPr id="51" name="Group 50">
            <a:extLst>
              <a:ext uri="{FF2B5EF4-FFF2-40B4-BE49-F238E27FC236}">
                <a16:creationId xmlns:a16="http://schemas.microsoft.com/office/drawing/2014/main" id="{ACFE8CBB-2644-4327-9C59-101B18B493C2}"/>
              </a:ext>
            </a:extLst>
          </p:cNvPr>
          <p:cNvGrpSpPr/>
          <p:nvPr/>
        </p:nvGrpSpPr>
        <p:grpSpPr>
          <a:xfrm>
            <a:off x="4770619" y="1630016"/>
            <a:ext cx="2918792" cy="5227983"/>
            <a:chOff x="4770619" y="1630016"/>
            <a:chExt cx="2918792" cy="5227983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23AF7B01-7097-43B9-B01B-7EA7830A5020}"/>
                </a:ext>
              </a:extLst>
            </p:cNvPr>
            <p:cNvSpPr/>
            <p:nvPr/>
          </p:nvSpPr>
          <p:spPr>
            <a:xfrm>
              <a:off x="4770619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25" name="Graphic 24" descr="Money with solid fill">
              <a:extLst>
                <a:ext uri="{FF2B5EF4-FFF2-40B4-BE49-F238E27FC236}">
                  <a16:creationId xmlns:a16="http://schemas.microsoft.com/office/drawing/2014/main" id="{61E5678D-61BF-42A4-8771-0FEF626A26B2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p:blipFill>
          <p:spPr>
            <a:xfrm>
              <a:off x="7095052" y="1719379"/>
              <a:ext cx="365760" cy="365760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BF2AD758-ACEA-4FFE-8824-81D30051BA8D}"/>
                </a:ext>
              </a:extLst>
            </p:cNvPr>
            <p:cNvSpPr txBox="1"/>
            <p:nvPr/>
          </p:nvSpPr>
          <p:spPr>
            <a:xfrm>
              <a:off x="4886062" y="1715606"/>
              <a:ext cx="1568523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Gross Profit</a:t>
              </a:r>
            </a:p>
          </p:txBody>
        </p:sp>
      </p:grpSp>
      <p:grpSp>
        <p:nvGrpSpPr>
          <p:cNvPr id="52" name="Group 51">
            <a:extLst>
              <a:ext uri="{FF2B5EF4-FFF2-40B4-BE49-F238E27FC236}">
                <a16:creationId xmlns:a16="http://schemas.microsoft.com/office/drawing/2014/main" id="{FF053565-3E56-4099-A16C-F09300C60A61}"/>
              </a:ext>
            </a:extLst>
          </p:cNvPr>
          <p:cNvGrpSpPr/>
          <p:nvPr/>
        </p:nvGrpSpPr>
        <p:grpSpPr>
          <a:xfrm>
            <a:off x="7962094" y="1630016"/>
            <a:ext cx="2918792" cy="5227983"/>
            <a:chOff x="7962094" y="1630016"/>
            <a:chExt cx="2918792" cy="5227983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BDA26183-9383-47A0-AB20-5367DC3C26DF}"/>
                </a:ext>
              </a:extLst>
            </p:cNvPr>
            <p:cNvSpPr/>
            <p:nvPr/>
          </p:nvSpPr>
          <p:spPr>
            <a:xfrm>
              <a:off x="7962094" y="1630016"/>
              <a:ext cx="2918792" cy="5227983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>
              <a:outerShdw blurRad="139700" dist="63500" sx="101000" sy="101000" algn="tl" rotWithShape="0">
                <a:srgbClr val="144E75">
                  <a:alpha val="40000"/>
                </a:srgbClr>
              </a:outerShd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33" name="Graphic 32" descr="Truck with solid fill">
              <a:extLst>
                <a:ext uri="{FF2B5EF4-FFF2-40B4-BE49-F238E27FC236}">
                  <a16:creationId xmlns:a16="http://schemas.microsoft.com/office/drawing/2014/main" id="{8AF899C6-AC2C-4F99-9F11-A418528F649F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10308982" y="1728344"/>
              <a:ext cx="365760" cy="365760"/>
            </a:xfrm>
            <a:prstGeom prst="rect">
              <a:avLst/>
            </a:prstGeom>
          </p:spPr>
        </p:pic>
        <p:sp>
          <p:nvSpPr>
            <p:cNvPr id="49" name="TextBox 48">
              <a:extLst>
                <a:ext uri="{FF2B5EF4-FFF2-40B4-BE49-F238E27FC236}">
                  <a16:creationId xmlns:a16="http://schemas.microsoft.com/office/drawing/2014/main" id="{BE634139-C09B-4448-8371-C17232246365}"/>
                </a:ext>
              </a:extLst>
            </p:cNvPr>
            <p:cNvSpPr txBox="1"/>
            <p:nvPr/>
          </p:nvSpPr>
          <p:spPr>
            <a:xfrm>
              <a:off x="8013605" y="1716644"/>
              <a:ext cx="1417264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600" b="1" dirty="0">
                  <a:solidFill>
                    <a:srgbClr val="144E75"/>
                  </a:solidFill>
                </a:rPr>
                <a:t>Units Sold</a:t>
              </a:r>
            </a:p>
          </p:txBody>
        </p:sp>
      </p:grpSp>
      <p:grpSp>
        <p:nvGrpSpPr>
          <p:cNvPr id="56" name="Group 55">
            <a:extLst>
              <a:ext uri="{FF2B5EF4-FFF2-40B4-BE49-F238E27FC236}">
                <a16:creationId xmlns:a16="http://schemas.microsoft.com/office/drawing/2014/main" id="{A7445FBF-A4DE-4C91-842D-FB63FFDEC737}"/>
              </a:ext>
            </a:extLst>
          </p:cNvPr>
          <p:cNvGrpSpPr/>
          <p:nvPr/>
        </p:nvGrpSpPr>
        <p:grpSpPr>
          <a:xfrm>
            <a:off x="11008659" y="1630016"/>
            <a:ext cx="1183341" cy="5138337"/>
            <a:chOff x="11153569" y="1630016"/>
            <a:chExt cx="1038431" cy="5138337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7A136491-5FED-4FF9-913E-640ADF171A6C}"/>
                </a:ext>
              </a:extLst>
            </p:cNvPr>
            <p:cNvSpPr/>
            <p:nvPr/>
          </p:nvSpPr>
          <p:spPr>
            <a:xfrm>
              <a:off x="11153569" y="1630016"/>
              <a:ext cx="1038431" cy="5138337"/>
            </a:xfrm>
            <a:prstGeom prst="roundRect">
              <a:avLst/>
            </a:prstGeom>
            <a:solidFill>
              <a:srgbClr val="E5E5E5"/>
            </a:soli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pic>
          <p:nvPicPr>
            <p:cNvPr id="54" name="Graphic 53" descr="Lightbulb with solid fill">
              <a:extLst>
                <a:ext uri="{FF2B5EF4-FFF2-40B4-BE49-F238E27FC236}">
                  <a16:creationId xmlns:a16="http://schemas.microsoft.com/office/drawing/2014/main" id="{85A2948D-B2F0-4C6B-8578-7BE862E38396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11858513" y="1664901"/>
              <a:ext cx="274320" cy="274320"/>
            </a:xfrm>
            <a:prstGeom prst="rect">
              <a:avLst/>
            </a:prstGeom>
          </p:spPr>
        </p:pic>
        <p:sp>
          <p:nvSpPr>
            <p:cNvPr id="55" name="TextBox 54">
              <a:extLst>
                <a:ext uri="{FF2B5EF4-FFF2-40B4-BE49-F238E27FC236}">
                  <a16:creationId xmlns:a16="http://schemas.microsoft.com/office/drawing/2014/main" id="{919C5375-BDA9-48EB-9473-713D085EED57}"/>
                </a:ext>
              </a:extLst>
            </p:cNvPr>
            <p:cNvSpPr txBox="1"/>
            <p:nvPr/>
          </p:nvSpPr>
          <p:spPr>
            <a:xfrm>
              <a:off x="11184371" y="1665003"/>
              <a:ext cx="795555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000" b="1" dirty="0">
                  <a:solidFill>
                    <a:srgbClr val="144E75"/>
                  </a:solidFill>
                </a:rPr>
                <a:t>Insights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60302093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op Background">
            <a:extLst>
              <a:ext uri="{FF2B5EF4-FFF2-40B4-BE49-F238E27FC236}">
                <a16:creationId xmlns:a16="http://schemas.microsoft.com/office/drawing/2014/main" id="{E095845E-6046-4C15-954A-7AB896351B5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55A6CB28-B287-4178-B59A-021D654E960E}"/>
              </a:ext>
            </a:extLst>
          </p:cNvPr>
          <p:cNvSpPr/>
          <p:nvPr/>
        </p:nvSpPr>
        <p:spPr>
          <a:xfrm>
            <a:off x="1579144" y="1630016"/>
            <a:ext cx="2918792" cy="5227983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3AF7B01-7097-43B9-B01B-7EA7830A5020}"/>
              </a:ext>
            </a:extLst>
          </p:cNvPr>
          <p:cNvSpPr/>
          <p:nvPr/>
        </p:nvSpPr>
        <p:spPr>
          <a:xfrm>
            <a:off x="4770619" y="1630016"/>
            <a:ext cx="2918792" cy="5227983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BDA26183-9383-47A0-AB20-5367DC3C26DF}"/>
              </a:ext>
            </a:extLst>
          </p:cNvPr>
          <p:cNvSpPr/>
          <p:nvPr/>
        </p:nvSpPr>
        <p:spPr>
          <a:xfrm>
            <a:off x="7962094" y="1630016"/>
            <a:ext cx="2918792" cy="5227983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op Background">
            <a:extLst>
              <a:ext uri="{FF2B5EF4-FFF2-40B4-BE49-F238E27FC236}">
                <a16:creationId xmlns:a16="http://schemas.microsoft.com/office/drawing/2014/main" id="{89B7693C-54E6-4DCB-8025-D295DFB584D4}"/>
              </a:ext>
            </a:extLst>
          </p:cNvPr>
          <p:cNvSpPr/>
          <p:nvPr/>
        </p:nvSpPr>
        <p:spPr>
          <a:xfrm>
            <a:off x="1" y="0"/>
            <a:ext cx="1317812" cy="6858000"/>
          </a:xfrm>
          <a:prstGeom prst="rect">
            <a:avLst/>
          </a:prstGeom>
          <a:gradFill flip="none" rotWithShape="1">
            <a:gsLst>
              <a:gs pos="51000">
                <a:srgbClr val="B6C3CC"/>
              </a:gs>
              <a:gs pos="47000">
                <a:srgbClr val="144E75"/>
              </a:gs>
              <a:gs pos="0">
                <a:srgbClr val="144E75"/>
              </a:gs>
              <a:gs pos="100000">
                <a:srgbClr val="E5E5E5"/>
              </a:gs>
            </a:gsLst>
            <a:lin ang="5400000" scaled="0"/>
            <a:tileRect/>
          </a:gradFill>
          <a:ln>
            <a:noFill/>
          </a:ln>
          <a:effectLst>
            <a:outerShdw blurRad="76200" dist="76200" sx="102000" sy="102000" algn="l" rotWithShape="0">
              <a:schemeClr val="tx1">
                <a:lumMod val="75000"/>
                <a:lumOff val="25000"/>
                <a:alpha val="3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0325E4EB-B644-4EC4-841B-F83A9D3961FA}"/>
              </a:ext>
            </a:extLst>
          </p:cNvPr>
          <p:cNvSpPr/>
          <p:nvPr/>
        </p:nvSpPr>
        <p:spPr>
          <a:xfrm>
            <a:off x="1579144" y="552450"/>
            <a:ext cx="10612856" cy="981076"/>
          </a:xfrm>
          <a:prstGeom prst="roundRect">
            <a:avLst/>
          </a:prstGeom>
          <a:solidFill>
            <a:srgbClr val="E5E5E5"/>
          </a:solidFill>
          <a:ln>
            <a:noFill/>
          </a:ln>
          <a:effectLst>
            <a:outerShdw blurRad="139700" dist="63500" sx="101000" sy="101000" algn="tl" rotWithShape="0">
              <a:srgbClr val="144E75">
                <a:alpha val="40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7A136491-5FED-4FF9-913E-640ADF171A6C}"/>
              </a:ext>
            </a:extLst>
          </p:cNvPr>
          <p:cNvSpPr/>
          <p:nvPr/>
        </p:nvSpPr>
        <p:spPr>
          <a:xfrm>
            <a:off x="11153569" y="1630016"/>
            <a:ext cx="1038431" cy="5138337"/>
          </a:xfrm>
          <a:prstGeom prst="roundRect">
            <a:avLst/>
          </a:prstGeom>
          <a:solidFill>
            <a:srgbClr val="E5E5E5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5" name="Graphic 14" descr="Dollar with solid fill">
            <a:extLst>
              <a:ext uri="{FF2B5EF4-FFF2-40B4-BE49-F238E27FC236}">
                <a16:creationId xmlns:a16="http://schemas.microsoft.com/office/drawing/2014/main" id="{5AE88AC4-FC33-4297-89C3-FCACD957F1F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772707" y="1672875"/>
            <a:ext cx="457200" cy="457200"/>
          </a:xfrm>
          <a:prstGeom prst="rect">
            <a:avLst/>
          </a:prstGeom>
        </p:spPr>
      </p:pic>
      <p:pic>
        <p:nvPicPr>
          <p:cNvPr id="17" name="Graphic 16" descr="Gauge with solid fill">
            <a:extLst>
              <a:ext uri="{FF2B5EF4-FFF2-40B4-BE49-F238E27FC236}">
                <a16:creationId xmlns:a16="http://schemas.microsoft.com/office/drawing/2014/main" id="{4D581A17-1832-4DA7-BE89-044F0FA7E7D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944771" y="4214395"/>
            <a:ext cx="914400" cy="914400"/>
          </a:xfrm>
          <a:prstGeom prst="rect">
            <a:avLst/>
          </a:prstGeom>
        </p:spPr>
      </p:pic>
      <p:pic>
        <p:nvPicPr>
          <p:cNvPr id="21" name="Graphic 20" descr="Help with solid fill">
            <a:extLst>
              <a:ext uri="{FF2B5EF4-FFF2-40B4-BE49-F238E27FC236}">
                <a16:creationId xmlns:a16="http://schemas.microsoft.com/office/drawing/2014/main" id="{86E5EA45-932B-46A6-AEEC-C82DCCA26A6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268030" y="4817880"/>
            <a:ext cx="457200" cy="457200"/>
          </a:xfrm>
          <a:prstGeom prst="rect">
            <a:avLst/>
          </a:prstGeom>
        </p:spPr>
      </p:pic>
      <p:pic>
        <p:nvPicPr>
          <p:cNvPr id="25" name="Graphic 24" descr="Money with solid fill">
            <a:extLst>
              <a:ext uri="{FF2B5EF4-FFF2-40B4-BE49-F238E27FC236}">
                <a16:creationId xmlns:a16="http://schemas.microsoft.com/office/drawing/2014/main" id="{61E5678D-61BF-42A4-8771-0FEF626A26B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03612" y="1672875"/>
            <a:ext cx="457200" cy="457200"/>
          </a:xfrm>
          <a:prstGeom prst="rect">
            <a:avLst/>
          </a:prstGeom>
        </p:spPr>
      </p:pic>
      <p:pic>
        <p:nvPicPr>
          <p:cNvPr id="27" name="Graphic 26" descr="Pie chart with solid fill">
            <a:extLst>
              <a:ext uri="{FF2B5EF4-FFF2-40B4-BE49-F238E27FC236}">
                <a16:creationId xmlns:a16="http://schemas.microsoft.com/office/drawing/2014/main" id="{3508D50B-6BC8-47EF-B6FE-5D9987C078F1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883266" y="4841699"/>
            <a:ext cx="914400" cy="914400"/>
          </a:xfrm>
          <a:prstGeom prst="rect">
            <a:avLst/>
          </a:prstGeom>
        </p:spPr>
      </p:pic>
      <p:pic>
        <p:nvPicPr>
          <p:cNvPr id="31" name="Graphic 30" descr="Thought bubble with solid fill">
            <a:extLst>
              <a:ext uri="{FF2B5EF4-FFF2-40B4-BE49-F238E27FC236}">
                <a16:creationId xmlns:a16="http://schemas.microsoft.com/office/drawing/2014/main" id="{C8829FCA-FAFD-4AAE-BFDE-A9986D733E06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606981" y="4471800"/>
            <a:ext cx="914400" cy="914400"/>
          </a:xfrm>
          <a:prstGeom prst="rect">
            <a:avLst/>
          </a:prstGeom>
        </p:spPr>
      </p:pic>
      <p:pic>
        <p:nvPicPr>
          <p:cNvPr id="33" name="Graphic 32" descr="Truck with solid fill">
            <a:extLst>
              <a:ext uri="{FF2B5EF4-FFF2-40B4-BE49-F238E27FC236}">
                <a16:creationId xmlns:a16="http://schemas.microsoft.com/office/drawing/2014/main" id="{8AF899C6-AC2C-4F99-9F11-A418528F649F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217542" y="1672875"/>
            <a:ext cx="457200" cy="457200"/>
          </a:xfrm>
          <a:prstGeom prst="rect">
            <a:avLst/>
          </a:prstGeom>
        </p:spPr>
      </p:pic>
      <p:grpSp>
        <p:nvGrpSpPr>
          <p:cNvPr id="43" name="Group 42">
            <a:extLst>
              <a:ext uri="{FF2B5EF4-FFF2-40B4-BE49-F238E27FC236}">
                <a16:creationId xmlns:a16="http://schemas.microsoft.com/office/drawing/2014/main" id="{426AAF74-CA88-468D-BA86-65E6DCC1BEF6}"/>
              </a:ext>
            </a:extLst>
          </p:cNvPr>
          <p:cNvGrpSpPr/>
          <p:nvPr/>
        </p:nvGrpSpPr>
        <p:grpSpPr>
          <a:xfrm>
            <a:off x="264799" y="0"/>
            <a:ext cx="806145" cy="597653"/>
            <a:chOff x="264799" y="0"/>
            <a:chExt cx="806145" cy="597653"/>
          </a:xfrm>
        </p:grpSpPr>
        <p:pic>
          <p:nvPicPr>
            <p:cNvPr id="3" name="Graphic 2" descr="Briefcase with solid fill">
              <a:extLst>
                <a:ext uri="{FF2B5EF4-FFF2-40B4-BE49-F238E27FC236}">
                  <a16:creationId xmlns:a16="http://schemas.microsoft.com/office/drawing/2014/main" id="{ECD7C0B7-6C42-4286-951B-BE7AF1C0435A}"/>
                </a:ext>
              </a:extLst>
            </p:cNvPr>
            <p:cNvPicPr>
              <a:picLocks noChangeAspect="1"/>
            </p:cNvPicPr>
            <p:nvPr/>
          </p:nvPicPr>
          <p:blipFill>
            <a:blip r:embed="rId1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p:blipFill>
          <p:spPr>
            <a:xfrm>
              <a:off x="430307" y="0"/>
              <a:ext cx="457200" cy="457200"/>
            </a:xfrm>
            <a:prstGeom prst="rect">
              <a:avLst/>
            </a:prstGeom>
          </p:spPr>
        </p:pic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D5CAC1C9-EDA5-4313-9351-99D237A0FB8B}"/>
                </a:ext>
              </a:extLst>
            </p:cNvPr>
            <p:cNvSpPr txBox="1"/>
            <p:nvPr/>
          </p:nvSpPr>
          <p:spPr>
            <a:xfrm>
              <a:off x="264799" y="366821"/>
              <a:ext cx="8061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Executive</a:t>
              </a:r>
            </a:p>
          </p:txBody>
        </p:sp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80531605-95A2-4957-AF05-905F37C5D456}"/>
              </a:ext>
            </a:extLst>
          </p:cNvPr>
          <p:cNvGrpSpPr/>
          <p:nvPr/>
        </p:nvGrpSpPr>
        <p:grpSpPr>
          <a:xfrm>
            <a:off x="272196" y="647677"/>
            <a:ext cx="806145" cy="622640"/>
            <a:chOff x="272196" y="647677"/>
            <a:chExt cx="806145" cy="622640"/>
          </a:xfrm>
        </p:grpSpPr>
        <p:pic>
          <p:nvPicPr>
            <p:cNvPr id="29" name="Graphic 28" descr="Shopping cart with solid fill">
              <a:extLst>
                <a:ext uri="{FF2B5EF4-FFF2-40B4-BE49-F238E27FC236}">
                  <a16:creationId xmlns:a16="http://schemas.microsoft.com/office/drawing/2014/main" id="{54F952DE-7CD7-4600-94E9-FAE4248AFDB0}"/>
                </a:ext>
              </a:extLst>
            </p:cNvPr>
            <p:cNvPicPr>
              <a:picLocks noChangeAspect="1"/>
            </p:cNvPicPr>
            <p:nvPr/>
          </p:nvPicPr>
          <p:blipFill>
            <a:blip r:embed="rId1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p:blipFill>
          <p:spPr>
            <a:xfrm>
              <a:off x="430307" y="647677"/>
              <a:ext cx="457200" cy="457200"/>
            </a:xfrm>
            <a:prstGeom prst="rect">
              <a:avLst/>
            </a:prstGeom>
          </p:spPr>
        </p:pic>
        <p:sp>
          <p:nvSpPr>
            <p:cNvPr id="37" name="TextBox 36">
              <a:extLst>
                <a:ext uri="{FF2B5EF4-FFF2-40B4-BE49-F238E27FC236}">
                  <a16:creationId xmlns:a16="http://schemas.microsoft.com/office/drawing/2014/main" id="{50BD6D2E-1D7D-4664-B837-98C15EF80334}"/>
                </a:ext>
              </a:extLst>
            </p:cNvPr>
            <p:cNvSpPr txBox="1"/>
            <p:nvPr/>
          </p:nvSpPr>
          <p:spPr>
            <a:xfrm>
              <a:off x="272196" y="1039485"/>
              <a:ext cx="806145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Sales</a:t>
              </a:r>
            </a:p>
          </p:txBody>
        </p:sp>
      </p:grpSp>
      <p:grpSp>
        <p:nvGrpSpPr>
          <p:cNvPr id="41" name="Group 40">
            <a:extLst>
              <a:ext uri="{FF2B5EF4-FFF2-40B4-BE49-F238E27FC236}">
                <a16:creationId xmlns:a16="http://schemas.microsoft.com/office/drawing/2014/main" id="{7410164E-A6FC-4521-A95F-6C6F16889B52}"/>
              </a:ext>
            </a:extLst>
          </p:cNvPr>
          <p:cNvGrpSpPr/>
          <p:nvPr/>
        </p:nvGrpSpPr>
        <p:grpSpPr>
          <a:xfrm>
            <a:off x="71717" y="1282338"/>
            <a:ext cx="1147752" cy="680859"/>
            <a:chOff x="71717" y="1282338"/>
            <a:chExt cx="1147752" cy="680859"/>
          </a:xfrm>
        </p:grpSpPr>
        <p:pic>
          <p:nvPicPr>
            <p:cNvPr id="19" name="Graphic 18" descr="Group brainstorm with solid fill">
              <a:extLst>
                <a:ext uri="{FF2B5EF4-FFF2-40B4-BE49-F238E27FC236}">
                  <a16:creationId xmlns:a16="http://schemas.microsoft.com/office/drawing/2014/main" id="{4CFC67D5-FDC9-453A-8297-E127A6BD6D70}"/>
                </a:ext>
              </a:extLst>
            </p:cNvPr>
            <p:cNvPicPr>
              <a:picLocks noChangeAspect="1"/>
            </p:cNvPicPr>
            <p:nvPr/>
          </p:nvPicPr>
          <p:blipFill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1"/>
                </a:ext>
              </a:extLst>
            </a:blip>
            <a:stretch>
              <a:fillRect/>
            </a:stretch>
          </p:blipFill>
          <p:spPr>
            <a:xfrm>
              <a:off x="430306" y="1282338"/>
              <a:ext cx="457200" cy="457200"/>
            </a:xfrm>
            <a:prstGeom prst="rect">
              <a:avLst/>
            </a:prstGeom>
          </p:spPr>
        </p:pic>
        <p:sp>
          <p:nvSpPr>
            <p:cNvPr id="38" name="TextBox 37">
              <a:extLst>
                <a:ext uri="{FF2B5EF4-FFF2-40B4-BE49-F238E27FC236}">
                  <a16:creationId xmlns:a16="http://schemas.microsoft.com/office/drawing/2014/main" id="{8AB4F118-8839-4EBE-B310-CFE761EEF358}"/>
                </a:ext>
              </a:extLst>
            </p:cNvPr>
            <p:cNvSpPr txBox="1"/>
            <p:nvPr/>
          </p:nvSpPr>
          <p:spPr>
            <a:xfrm>
              <a:off x="71717" y="1732365"/>
              <a:ext cx="11477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Customer Insights</a:t>
              </a:r>
            </a:p>
          </p:txBody>
        </p:sp>
      </p:grp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E509EF3-0416-4DC7-B2BA-E847CD652AFA}"/>
              </a:ext>
            </a:extLst>
          </p:cNvPr>
          <p:cNvGrpSpPr/>
          <p:nvPr/>
        </p:nvGrpSpPr>
        <p:grpSpPr>
          <a:xfrm>
            <a:off x="71717" y="2779279"/>
            <a:ext cx="1147752" cy="640278"/>
            <a:chOff x="71717" y="1972458"/>
            <a:chExt cx="1147752" cy="640278"/>
          </a:xfrm>
        </p:grpSpPr>
        <p:pic>
          <p:nvPicPr>
            <p:cNvPr id="23" name="Graphic 22" descr="Lightbulb and gear with solid fill">
              <a:extLst>
                <a:ext uri="{FF2B5EF4-FFF2-40B4-BE49-F238E27FC236}">
                  <a16:creationId xmlns:a16="http://schemas.microsoft.com/office/drawing/2014/main" id="{1E3A1512-E04B-4993-9945-4180AD22BD67}"/>
                </a:ext>
              </a:extLst>
            </p:cNvPr>
            <p:cNvPicPr>
              <a:picLocks noChangeAspect="1"/>
            </p:cNvPicPr>
            <p:nvPr/>
          </p:nvPicPr>
          <p:blipFill>
            <a:blip r:embed="rId2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3"/>
                </a:ext>
              </a:extLst>
            </a:blip>
            <a:stretch>
              <a:fillRect/>
            </a:stretch>
          </p:blipFill>
          <p:spPr>
            <a:xfrm>
              <a:off x="430306" y="1972458"/>
              <a:ext cx="457200" cy="457200"/>
            </a:xfrm>
            <a:prstGeom prst="rect">
              <a:avLst/>
            </a:prstGeom>
          </p:spPr>
        </p:pic>
        <p:sp>
          <p:nvSpPr>
            <p:cNvPr id="39" name="TextBox 38">
              <a:extLst>
                <a:ext uri="{FF2B5EF4-FFF2-40B4-BE49-F238E27FC236}">
                  <a16:creationId xmlns:a16="http://schemas.microsoft.com/office/drawing/2014/main" id="{13F8404F-A1CE-46AE-AEA9-B4EB279F6363}"/>
                </a:ext>
              </a:extLst>
            </p:cNvPr>
            <p:cNvSpPr txBox="1"/>
            <p:nvPr/>
          </p:nvSpPr>
          <p:spPr>
            <a:xfrm>
              <a:off x="71717" y="2381904"/>
              <a:ext cx="1147752" cy="2308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What-If Analysis</a:t>
              </a:r>
            </a:p>
          </p:txBody>
        </p:sp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B1A08BDB-74CE-4ABD-A86E-0F06C79CB6D3}"/>
              </a:ext>
            </a:extLst>
          </p:cNvPr>
          <p:cNvGrpSpPr/>
          <p:nvPr/>
        </p:nvGrpSpPr>
        <p:grpSpPr>
          <a:xfrm>
            <a:off x="93790" y="1942461"/>
            <a:ext cx="1147752" cy="786425"/>
            <a:chOff x="93790" y="1942461"/>
            <a:chExt cx="1147752" cy="786425"/>
          </a:xfrm>
        </p:grpSpPr>
        <p:pic>
          <p:nvPicPr>
            <p:cNvPr id="13" name="Graphic 12" descr="Bullseye with solid fill">
              <a:extLst>
                <a:ext uri="{FF2B5EF4-FFF2-40B4-BE49-F238E27FC236}">
                  <a16:creationId xmlns:a16="http://schemas.microsoft.com/office/drawing/2014/main" id="{D4FD78CD-158C-4559-BCD1-25E12634B3EF}"/>
                </a:ext>
              </a:extLst>
            </p:cNvPr>
            <p:cNvPicPr>
              <a:picLocks noChangeAspect="1"/>
            </p:cNvPicPr>
            <p:nvPr/>
          </p:nvPicPr>
          <p:blipFill>
            <a:blip r:embed="rId24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5"/>
                </a:ext>
              </a:extLst>
            </a:blip>
            <a:stretch>
              <a:fillRect/>
            </a:stretch>
          </p:blipFill>
          <p:spPr>
            <a:xfrm>
              <a:off x="430306" y="1942461"/>
              <a:ext cx="457200" cy="457200"/>
            </a:xfrm>
            <a:prstGeom prst="rect">
              <a:avLst/>
            </a:prstGeom>
          </p:spPr>
        </p:pic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AD8C0B2C-C9F9-4E12-9395-A9DF2CEC2C27}"/>
                </a:ext>
              </a:extLst>
            </p:cNvPr>
            <p:cNvSpPr txBox="1"/>
            <p:nvPr/>
          </p:nvSpPr>
          <p:spPr>
            <a:xfrm>
              <a:off x="93790" y="2359554"/>
              <a:ext cx="114775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900" dirty="0">
                  <a:solidFill>
                    <a:schemeClr val="bg1"/>
                  </a:solidFill>
                </a:rPr>
                <a:t>Sales Person Performance</a:t>
              </a:r>
            </a:p>
          </p:txBody>
        </p:sp>
      </p:grpSp>
      <p:sp>
        <p:nvSpPr>
          <p:cNvPr id="47" name="TextBox 46">
            <a:extLst>
              <a:ext uri="{FF2B5EF4-FFF2-40B4-BE49-F238E27FC236}">
                <a16:creationId xmlns:a16="http://schemas.microsoft.com/office/drawing/2014/main" id="{9B2EA1CB-9538-40EF-BE31-E24A343B7C8B}"/>
              </a:ext>
            </a:extLst>
          </p:cNvPr>
          <p:cNvSpPr txBox="1"/>
          <p:nvPr/>
        </p:nvSpPr>
        <p:spPr>
          <a:xfrm>
            <a:off x="1711419" y="1716644"/>
            <a:ext cx="114775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rgbClr val="144E75"/>
                </a:solidFill>
              </a:rPr>
              <a:t>Revenue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9D64ABB5-BA2B-45B8-9EB1-CE0177DE8BF0}"/>
              </a:ext>
            </a:extLst>
          </p:cNvPr>
          <p:cNvGrpSpPr/>
          <p:nvPr/>
        </p:nvGrpSpPr>
        <p:grpSpPr>
          <a:xfrm>
            <a:off x="5441576" y="2971800"/>
            <a:ext cx="1111624" cy="1111624"/>
            <a:chOff x="5441576" y="2971800"/>
            <a:chExt cx="1111624" cy="1111624"/>
          </a:xfrm>
        </p:grpSpPr>
        <p:pic>
          <p:nvPicPr>
            <p:cNvPr id="32" name="Graphic 31" descr="Arrow circle with solid fill">
              <a:extLst>
                <a:ext uri="{FF2B5EF4-FFF2-40B4-BE49-F238E27FC236}">
                  <a16:creationId xmlns:a16="http://schemas.microsoft.com/office/drawing/2014/main" id="{A719A45F-1C57-44BD-B3D6-1810ADF4C2F8}"/>
                </a:ext>
              </a:extLst>
            </p:cNvPr>
            <p:cNvPicPr>
              <a:picLocks noChangeAspect="1"/>
            </p:cNvPicPr>
            <p:nvPr/>
          </p:nvPicPr>
          <p:blipFill>
            <a:blip r:embed="rId2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7"/>
                </a:ext>
              </a:extLst>
            </a:blip>
            <a:stretch>
              <a:fillRect/>
            </a:stretch>
          </p:blipFill>
          <p:spPr>
            <a:xfrm>
              <a:off x="5441576" y="2971800"/>
              <a:ext cx="1111624" cy="1111624"/>
            </a:xfrm>
            <a:prstGeom prst="rect">
              <a:avLst/>
            </a:prstGeom>
          </p:spPr>
        </p:pic>
        <p:sp>
          <p:nvSpPr>
            <p:cNvPr id="34" name="TextBox 33">
              <a:extLst>
                <a:ext uri="{FF2B5EF4-FFF2-40B4-BE49-F238E27FC236}">
                  <a16:creationId xmlns:a16="http://schemas.microsoft.com/office/drawing/2014/main" id="{6E59B954-04CC-4167-B2A0-0506DDBD888D}"/>
                </a:ext>
              </a:extLst>
            </p:cNvPr>
            <p:cNvSpPr txBox="1"/>
            <p:nvPr/>
          </p:nvSpPr>
          <p:spPr>
            <a:xfrm>
              <a:off x="5661577" y="3373723"/>
              <a:ext cx="7254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rgbClr val="144E75"/>
                  </a:solidFill>
                </a:rPr>
                <a:t>Reset</a:t>
              </a:r>
            </a:p>
          </p:txBody>
        </p:sp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80DDCB99-15DD-4904-B4A0-66627A0AAD71}"/>
              </a:ext>
            </a:extLst>
          </p:cNvPr>
          <p:cNvGrpSpPr/>
          <p:nvPr/>
        </p:nvGrpSpPr>
        <p:grpSpPr>
          <a:xfrm>
            <a:off x="1684525" y="-188991"/>
            <a:ext cx="1111624" cy="1111624"/>
            <a:chOff x="5441576" y="2971800"/>
            <a:chExt cx="1111624" cy="1111624"/>
          </a:xfrm>
        </p:grpSpPr>
        <p:pic>
          <p:nvPicPr>
            <p:cNvPr id="44" name="Graphic 43" descr="Arrow circle with solid fill">
              <a:extLst>
                <a:ext uri="{FF2B5EF4-FFF2-40B4-BE49-F238E27FC236}">
                  <a16:creationId xmlns:a16="http://schemas.microsoft.com/office/drawing/2014/main" id="{B9E6D1E8-8729-4FB6-840E-F33933A67F43}"/>
                </a:ext>
              </a:extLst>
            </p:cNvPr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9"/>
                </a:ext>
              </a:extLst>
            </a:blip>
            <a:stretch>
              <a:fillRect/>
            </a:stretch>
          </p:blipFill>
          <p:spPr>
            <a:xfrm>
              <a:off x="5441576" y="2971800"/>
              <a:ext cx="1111624" cy="1111624"/>
            </a:xfrm>
            <a:prstGeom prst="rect">
              <a:avLst/>
            </a:prstGeom>
          </p:spPr>
        </p:pic>
        <p:sp>
          <p:nvSpPr>
            <p:cNvPr id="48" name="TextBox 47">
              <a:extLst>
                <a:ext uri="{FF2B5EF4-FFF2-40B4-BE49-F238E27FC236}">
                  <a16:creationId xmlns:a16="http://schemas.microsoft.com/office/drawing/2014/main" id="{D256D2F1-4779-4832-949C-FBBF66D3671B}"/>
                </a:ext>
              </a:extLst>
            </p:cNvPr>
            <p:cNvSpPr txBox="1"/>
            <p:nvPr/>
          </p:nvSpPr>
          <p:spPr>
            <a:xfrm>
              <a:off x="5661577" y="3373723"/>
              <a:ext cx="725412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sz="1400" b="1" dirty="0">
                  <a:solidFill>
                    <a:schemeClr val="bg1"/>
                  </a:solidFill>
                </a:rPr>
                <a:t>Reset</a:t>
              </a:r>
            </a:p>
          </p:txBody>
        </p:sp>
      </p:grpSp>
      <p:pic>
        <p:nvPicPr>
          <p:cNvPr id="50" name="Graphic 49" descr="Briefcase with solid fill">
            <a:extLst>
              <a:ext uri="{FF2B5EF4-FFF2-40B4-BE49-F238E27FC236}">
                <a16:creationId xmlns:a16="http://schemas.microsoft.com/office/drawing/2014/main" id="{505539EF-04B7-4353-B338-92A733CBE31D}"/>
              </a:ext>
            </a:extLst>
          </p:cNvPr>
          <p:cNvPicPr>
            <a:picLocks noChangeAspect="1"/>
          </p:cNvPicPr>
          <p:nvPr/>
        </p:nvPicPr>
        <p:blipFill>
          <a:blip r:embed="rId3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1"/>
              </a:ext>
            </a:extLst>
          </a:blip>
          <a:stretch>
            <a:fillRect/>
          </a:stretch>
        </p:blipFill>
        <p:spPr>
          <a:xfrm>
            <a:off x="571580" y="4043023"/>
            <a:ext cx="457200" cy="457200"/>
          </a:xfrm>
          <a:prstGeom prst="rect">
            <a:avLst/>
          </a:prstGeom>
        </p:spPr>
      </p:pic>
      <p:pic>
        <p:nvPicPr>
          <p:cNvPr id="51" name="Graphic 50" descr="Briefcase with solid fill">
            <a:extLst>
              <a:ext uri="{FF2B5EF4-FFF2-40B4-BE49-F238E27FC236}">
                <a16:creationId xmlns:a16="http://schemas.microsoft.com/office/drawing/2014/main" id="{E8080E99-0CF3-4B6B-BEF7-F3CB09E78103}"/>
              </a:ext>
            </a:extLst>
          </p:cNvPr>
          <p:cNvPicPr>
            <a:picLocks noChangeAspect="1"/>
          </p:cNvPicPr>
          <p:nvPr/>
        </p:nvPicPr>
        <p:blipFill>
          <a:blip r:embed="rId3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3310510" y="63509"/>
            <a:ext cx="457200" cy="457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193729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1713</TotalTime>
  <Words>42</Words>
  <Application>Microsoft Office PowerPoint</Application>
  <PresentationFormat>Widescreen</PresentationFormat>
  <Paragraphs>28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Raphael Simon</dc:creator>
  <cp:lastModifiedBy>Raphael Simon</cp:lastModifiedBy>
  <cp:revision>39</cp:revision>
  <dcterms:created xsi:type="dcterms:W3CDTF">2026-01-31T14:54:26Z</dcterms:created>
  <dcterms:modified xsi:type="dcterms:W3CDTF">2026-02-07T11:32:04Z</dcterms:modified>
</cp:coreProperties>
</file>